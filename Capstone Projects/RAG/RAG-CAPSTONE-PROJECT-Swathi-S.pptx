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nva Sans" panose="020B0604020202020204" charset="0"/>
      <p:regular r:id="rId17"/>
    </p:embeddedFont>
    <p:embeddedFont>
      <p:font typeface="Canva Sans Bold" panose="020B0604020202020204" charset="0"/>
      <p:regular r:id="rId18"/>
    </p:embeddedFont>
    <p:embeddedFont>
      <p:font typeface="Codec Pro Ultra-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54559" y="5664996"/>
            <a:ext cx="6578882" cy="1023974"/>
            <a:chOff x="0" y="0"/>
            <a:chExt cx="1732710" cy="2696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2710" cy="269689"/>
            </a:xfrm>
            <a:custGeom>
              <a:avLst/>
              <a:gdLst/>
              <a:ahLst/>
              <a:cxnLst/>
              <a:rect l="l" t="t" r="r" b="b"/>
              <a:pathLst>
                <a:path w="1732710" h="269689">
                  <a:moveTo>
                    <a:pt x="0" y="0"/>
                  </a:moveTo>
                  <a:lnTo>
                    <a:pt x="1732710" y="0"/>
                  </a:lnTo>
                  <a:lnTo>
                    <a:pt x="1732710" y="269689"/>
                  </a:lnTo>
                  <a:lnTo>
                    <a:pt x="0" y="269689"/>
                  </a:lnTo>
                  <a:close/>
                </a:path>
              </a:pathLst>
            </a:custGeom>
            <a:ln w="38100" cap="sq">
              <a:solidFill>
                <a:srgbClr val="08113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32710" cy="307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779735" y="-916993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5097851" y="8418967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691765" y="1176268"/>
            <a:ext cx="1383530" cy="1383530"/>
            <a:chOff x="0" y="0"/>
            <a:chExt cx="364386" cy="3643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596235" y="7727202"/>
            <a:ext cx="1383530" cy="1383530"/>
            <a:chOff x="0" y="0"/>
            <a:chExt cx="364386" cy="3643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2243781" y="7703002"/>
            <a:ext cx="3272481" cy="3272481"/>
            <a:chOff x="0" y="0"/>
            <a:chExt cx="861888" cy="86188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61888" cy="861888"/>
            </a:xfrm>
            <a:custGeom>
              <a:avLst/>
              <a:gdLst/>
              <a:ahLst/>
              <a:cxnLst/>
              <a:rect l="l" t="t" r="r" b="b"/>
              <a:pathLst>
                <a:path w="861888" h="861888">
                  <a:moveTo>
                    <a:pt x="0" y="0"/>
                  </a:moveTo>
                  <a:lnTo>
                    <a:pt x="861888" y="0"/>
                  </a:lnTo>
                  <a:lnTo>
                    <a:pt x="861888" y="861888"/>
                  </a:lnTo>
                  <a:lnTo>
                    <a:pt x="0" y="861888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61888" cy="8999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259300" y="-688483"/>
            <a:ext cx="3272481" cy="3272481"/>
            <a:chOff x="0" y="0"/>
            <a:chExt cx="861888" cy="86188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61888" cy="861888"/>
            </a:xfrm>
            <a:custGeom>
              <a:avLst/>
              <a:gdLst/>
              <a:ahLst/>
              <a:cxnLst/>
              <a:rect l="l" t="t" r="r" b="b"/>
              <a:pathLst>
                <a:path w="861888" h="861888">
                  <a:moveTo>
                    <a:pt x="0" y="0"/>
                  </a:moveTo>
                  <a:lnTo>
                    <a:pt x="861888" y="0"/>
                  </a:lnTo>
                  <a:lnTo>
                    <a:pt x="861888" y="861888"/>
                  </a:lnTo>
                  <a:lnTo>
                    <a:pt x="0" y="861888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61888" cy="8999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462848" y="3436105"/>
            <a:ext cx="13362304" cy="173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7"/>
              </a:lnSpc>
            </a:pPr>
            <a:r>
              <a:rPr lang="en-US" sz="4805" b="1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RETRIEVAL AUGMENTED GENERATION (RAG) FOR CORPORATE ENVIRONMENTAL REPORTS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45186" y="5719783"/>
            <a:ext cx="5797628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By Swathi.S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26965" y="1734051"/>
            <a:ext cx="8342313" cy="1227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5400" b="1" dirty="0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46411" y="3565710"/>
            <a:ext cx="13338183" cy="3555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8365" lvl="1" indent="-434182" algn="l">
              <a:lnSpc>
                <a:spcPts val="5630"/>
              </a:lnSpc>
              <a:buFont typeface="Arial"/>
              <a:buChar char="•"/>
            </a:pPr>
            <a:r>
              <a:rPr lang="en-US" sz="4022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RAG combines LLM with an external Retrieval system</a:t>
            </a:r>
          </a:p>
          <a:p>
            <a:pPr marL="868365" lvl="1" indent="-434182" algn="l">
              <a:lnSpc>
                <a:spcPts val="5630"/>
              </a:lnSpc>
              <a:buFont typeface="Arial"/>
              <a:buChar char="•"/>
            </a:pPr>
            <a:r>
              <a:rPr lang="en-US" sz="4022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Addresses the limitation of LLM system (hallucinations, outdated info)</a:t>
            </a:r>
          </a:p>
          <a:p>
            <a:pPr marL="868365" lvl="1" indent="-434182" algn="l">
              <a:lnSpc>
                <a:spcPts val="5630"/>
              </a:lnSpc>
              <a:buFont typeface="Arial"/>
              <a:buChar char="•"/>
            </a:pPr>
            <a:r>
              <a:rPr lang="en-US" sz="4022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Benefits : Grounded, domain specific answers</a:t>
            </a:r>
          </a:p>
        </p:txBody>
      </p:sp>
      <p:sp>
        <p:nvSpPr>
          <p:cNvPr id="3" name="Freeform 3"/>
          <p:cNvSpPr/>
          <p:nvPr/>
        </p:nvSpPr>
        <p:spPr>
          <a:xfrm>
            <a:off x="-779735" y="-916993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691765" y="1176268"/>
            <a:ext cx="1383530" cy="1383530"/>
            <a:chOff x="0" y="0"/>
            <a:chExt cx="364386" cy="36438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H="1" flipV="1">
            <a:off x="15097851" y="8418967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7596235" y="7727202"/>
            <a:ext cx="1383530" cy="1383530"/>
            <a:chOff x="0" y="0"/>
            <a:chExt cx="364386" cy="3643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59300" y="-354830"/>
            <a:ext cx="1383530" cy="1383530"/>
            <a:chOff x="0" y="0"/>
            <a:chExt cx="364386" cy="3643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354830" y="9258300"/>
            <a:ext cx="1383530" cy="1383530"/>
            <a:chOff x="0" y="0"/>
            <a:chExt cx="364386" cy="3643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354017" y="964119"/>
            <a:ext cx="9579966" cy="1757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3"/>
              </a:lnSpc>
            </a:pPr>
            <a:r>
              <a:rPr lang="en-US" sz="9466" b="1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WHAT IS RAG?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5097851" y="8418967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596235" y="7727202"/>
            <a:ext cx="1383530" cy="1383530"/>
            <a:chOff x="0" y="0"/>
            <a:chExt cx="364386" cy="3643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779735" y="-916993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691765" y="1176268"/>
            <a:ext cx="1383530" cy="1383530"/>
            <a:chOff x="0" y="0"/>
            <a:chExt cx="364386" cy="3643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632742" y="1686622"/>
            <a:ext cx="11022516" cy="1757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3"/>
              </a:lnSpc>
            </a:pPr>
            <a:r>
              <a:rPr lang="en-US" sz="9466" b="1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PROJECT GOALS</a:t>
            </a:r>
          </a:p>
        </p:txBody>
      </p:sp>
      <p:sp>
        <p:nvSpPr>
          <p:cNvPr id="11" name="AutoShape 11"/>
          <p:cNvSpPr/>
          <p:nvPr/>
        </p:nvSpPr>
        <p:spPr>
          <a:xfrm flipV="1">
            <a:off x="6301613" y="6911798"/>
            <a:ext cx="6569890" cy="0"/>
          </a:xfrm>
          <a:prstGeom prst="line">
            <a:avLst/>
          </a:prstGeom>
          <a:ln w="28575" cap="flat">
            <a:solidFill>
              <a:srgbClr val="182F5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6287326" y="6016771"/>
            <a:ext cx="0" cy="851509"/>
          </a:xfrm>
          <a:prstGeom prst="line">
            <a:avLst/>
          </a:prstGeom>
          <a:ln w="28575" cap="flat">
            <a:solidFill>
              <a:srgbClr val="182F5B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9129712" y="6016771"/>
            <a:ext cx="0" cy="895027"/>
          </a:xfrm>
          <a:prstGeom prst="line">
            <a:avLst/>
          </a:prstGeom>
          <a:ln w="28575" cap="flat">
            <a:solidFill>
              <a:srgbClr val="182F5B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H="1">
            <a:off x="12857216" y="5973253"/>
            <a:ext cx="0" cy="895027"/>
          </a:xfrm>
          <a:prstGeom prst="line">
            <a:avLst/>
          </a:prstGeom>
          <a:ln w="28575" cap="flat">
            <a:solidFill>
              <a:srgbClr val="182F5B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5055807" y="4058044"/>
            <a:ext cx="4218308" cy="195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3"/>
              </a:lnSpc>
            </a:pPr>
            <a:endParaRPr/>
          </a:p>
          <a:p>
            <a:pPr algn="l">
              <a:lnSpc>
                <a:spcPts val="3303"/>
              </a:lnSpc>
            </a:pPr>
            <a:r>
              <a:rPr lang="en-US" sz="2359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Develop a RAG system for querying environmental reports</a:t>
            </a:r>
          </a:p>
          <a:p>
            <a:pPr algn="l">
              <a:lnSpc>
                <a:spcPts val="2323"/>
              </a:lnSpc>
            </a:pPr>
            <a:endParaRPr lang="en-US" sz="2359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906619" y="4312909"/>
            <a:ext cx="1452246" cy="116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4"/>
              </a:lnSpc>
            </a:pPr>
            <a:r>
              <a:rPr lang="en-US" sz="6246" b="1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93530" y="7144010"/>
            <a:ext cx="3899823" cy="2502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3"/>
              </a:lnSpc>
            </a:pPr>
            <a:r>
              <a:rPr lang="en-US" sz="2359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Data Source: Collection of PDF environmental reports from various companies (e.g., Apple, Google, Unilever)</a:t>
            </a:r>
          </a:p>
          <a:p>
            <a:pPr algn="l">
              <a:lnSpc>
                <a:spcPts val="3303"/>
              </a:lnSpc>
            </a:pPr>
            <a:endParaRPr lang="en-US" sz="2359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287326" y="7363571"/>
            <a:ext cx="1452246" cy="116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4"/>
              </a:lnSpc>
            </a:pPr>
            <a:r>
              <a:rPr lang="en-US" sz="6246" b="1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93353" y="4703384"/>
            <a:ext cx="3899823" cy="1664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3"/>
              </a:lnSpc>
            </a:pPr>
            <a:r>
              <a:rPr lang="en-US" sz="2359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Key challenges: Diverse document formats, large volumes of text</a:t>
            </a:r>
          </a:p>
          <a:p>
            <a:pPr algn="l">
              <a:lnSpc>
                <a:spcPts val="3303"/>
              </a:lnSpc>
            </a:pPr>
            <a:endParaRPr lang="en-US" sz="2359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223509" y="4367610"/>
            <a:ext cx="1452246" cy="116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4"/>
              </a:lnSpc>
            </a:pPr>
            <a:r>
              <a:rPr lang="en-US" sz="6246" b="1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03</a:t>
            </a:r>
          </a:p>
        </p:txBody>
      </p:sp>
      <p:sp>
        <p:nvSpPr>
          <p:cNvPr id="21" name="Freeform 21"/>
          <p:cNvSpPr/>
          <p:nvPr/>
        </p:nvSpPr>
        <p:spPr>
          <a:xfrm>
            <a:off x="-1984942" y="8057181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flipH="1" flipV="1">
            <a:off x="16303058" y="-555207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5097851" y="8418967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596235" y="7727202"/>
            <a:ext cx="1383530" cy="1383530"/>
            <a:chOff x="0" y="0"/>
            <a:chExt cx="364386" cy="3643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779735" y="-916993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691765" y="1176268"/>
            <a:ext cx="1383530" cy="1383530"/>
            <a:chOff x="0" y="0"/>
            <a:chExt cx="364386" cy="3643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259300" y="-354830"/>
            <a:ext cx="1383530" cy="1383530"/>
            <a:chOff x="0" y="0"/>
            <a:chExt cx="364386" cy="3643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354830" y="9258300"/>
            <a:ext cx="1383530" cy="1383530"/>
            <a:chOff x="0" y="0"/>
            <a:chExt cx="364386" cy="36438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573196" y="4032348"/>
            <a:ext cx="11141609" cy="5146974"/>
            <a:chOff x="0" y="0"/>
            <a:chExt cx="14855478" cy="686263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855478" cy="6761032"/>
            </a:xfrm>
            <a:custGeom>
              <a:avLst/>
              <a:gdLst/>
              <a:ahLst/>
              <a:cxnLst/>
              <a:rect l="l" t="t" r="r" b="b"/>
              <a:pathLst>
                <a:path w="14855478" h="6761032">
                  <a:moveTo>
                    <a:pt x="0" y="0"/>
                  </a:moveTo>
                  <a:lnTo>
                    <a:pt x="14855478" y="0"/>
                  </a:lnTo>
                  <a:lnTo>
                    <a:pt x="14855478" y="6761032"/>
                  </a:lnTo>
                  <a:lnTo>
                    <a:pt x="0" y="6761032"/>
                  </a:lnTo>
                  <a:close/>
                </a:path>
              </a:pathLst>
            </a:custGeom>
            <a:solidFill>
              <a:srgbClr val="F8FD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4855478" cy="6862632"/>
            </a:xfrm>
            <a:custGeom>
              <a:avLst/>
              <a:gdLst/>
              <a:ahLst/>
              <a:cxnLst/>
              <a:rect l="l" t="t" r="r" b="b"/>
              <a:pathLst>
                <a:path w="14855478" h="6862632">
                  <a:moveTo>
                    <a:pt x="0" y="6761032"/>
                  </a:moveTo>
                  <a:lnTo>
                    <a:pt x="14855478" y="6761032"/>
                  </a:lnTo>
                  <a:lnTo>
                    <a:pt x="14728478" y="6862632"/>
                  </a:lnTo>
                  <a:cubicBezTo>
                    <a:pt x="14728478" y="6862632"/>
                    <a:pt x="13737878" y="6786432"/>
                    <a:pt x="13636278" y="6786432"/>
                  </a:cubicBezTo>
                  <a:lnTo>
                    <a:pt x="1219200" y="6786432"/>
                  </a:lnTo>
                  <a:cubicBezTo>
                    <a:pt x="1117600" y="6786432"/>
                    <a:pt x="127000" y="6862632"/>
                    <a:pt x="127000" y="6862632"/>
                  </a:cubicBezTo>
                  <a:lnTo>
                    <a:pt x="0" y="6761032"/>
                  </a:lnTo>
                  <a:lnTo>
                    <a:pt x="0" y="0"/>
                  </a:lnTo>
                  <a:lnTo>
                    <a:pt x="14855478" y="0"/>
                  </a:lnTo>
                  <a:lnTo>
                    <a:pt x="14855478" y="6761032"/>
                  </a:lnTo>
                  <a:lnTo>
                    <a:pt x="12700" y="6761032"/>
                  </a:lnTo>
                  <a:lnTo>
                    <a:pt x="12700" y="6748332"/>
                  </a:lnTo>
                  <a:lnTo>
                    <a:pt x="14842778" y="6748332"/>
                  </a:lnTo>
                  <a:lnTo>
                    <a:pt x="14842778" y="12700"/>
                  </a:lnTo>
                  <a:lnTo>
                    <a:pt x="12700" y="12700"/>
                  </a:lnTo>
                  <a:lnTo>
                    <a:pt x="12700" y="676103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4855478" cy="6808657"/>
            </a:xfrm>
            <a:prstGeom prst="rect">
              <a:avLst/>
            </a:prstGeom>
          </p:spPr>
          <p:txBody>
            <a:bodyPr lIns="203200" tIns="203200" rIns="203200" bIns="203200" rtlCol="0" anchor="t"/>
            <a:lstStyle/>
            <a:p>
              <a:pPr marL="647694" lvl="1" indent="-323847" algn="l">
                <a:lnSpc>
                  <a:spcPts val="4199"/>
                </a:lnSpc>
                <a:buFont typeface="Arial"/>
                <a:buChar char="•"/>
              </a:pPr>
              <a:r>
                <a:rPr lang="en-US" sz="29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Tools</a:t>
              </a:r>
              <a:r>
                <a:rPr lang="en-US" sz="2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PyMuPDF for PDF extraction, LangChain's RecursiveCharacterTextSplitter</a:t>
              </a:r>
            </a:p>
            <a:p>
              <a:pPr algn="l">
                <a:lnSpc>
                  <a:spcPts val="4199"/>
                </a:lnSpc>
              </a:pPr>
              <a:endPara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marL="647694" lvl="1" indent="-323847" algn="l">
                <a:lnSpc>
                  <a:spcPts val="4199"/>
                </a:lnSpc>
                <a:buFont typeface="Arial"/>
                <a:buChar char="•"/>
              </a:pPr>
              <a:r>
                <a:rPr lang="en-US" sz="29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Process</a:t>
              </a:r>
              <a:r>
                <a:rPr lang="en-US" sz="2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Extract text, clean, and split into overlapping chunks</a:t>
              </a:r>
            </a:p>
            <a:p>
              <a:pPr algn="l">
                <a:lnSpc>
                  <a:spcPts val="4199"/>
                </a:lnSpc>
              </a:pPr>
              <a:endPara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marL="647694" lvl="1" indent="-323847" algn="l">
                <a:lnSpc>
                  <a:spcPts val="4199"/>
                </a:lnSpc>
                <a:buFont typeface="Arial"/>
                <a:buChar char="•"/>
              </a:pPr>
              <a:r>
                <a:rPr lang="en-US" sz="29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Metadata</a:t>
              </a:r>
              <a:r>
                <a:rPr lang="en-US" sz="2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Capture company, section, and page for each chunk</a:t>
              </a:r>
            </a:p>
            <a:p>
              <a:pPr algn="l">
                <a:lnSpc>
                  <a:spcPts val="4059"/>
                </a:lnSpc>
              </a:pPr>
              <a:endPara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354017" y="976243"/>
            <a:ext cx="9579966" cy="2091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78"/>
              </a:lnSpc>
            </a:pPr>
            <a:r>
              <a:rPr lang="en-US" sz="5770" b="1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DOCUMENT PARSING &amp; CHUNKING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64971" y="829427"/>
            <a:ext cx="8179164" cy="3243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8"/>
              </a:lnSpc>
            </a:pPr>
            <a:r>
              <a:rPr lang="en-US" sz="5784" b="1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EMBEDDING &amp; VECTOR STORE</a:t>
            </a:r>
          </a:p>
          <a:p>
            <a:pPr algn="ctr">
              <a:lnSpc>
                <a:spcPts val="9156"/>
              </a:lnSpc>
            </a:pPr>
            <a:endParaRPr lang="en-US" sz="5784" b="1">
              <a:solidFill>
                <a:srgbClr val="182F5B"/>
              </a:solidFill>
              <a:latin typeface="Codec Pro Ultra-Bold"/>
              <a:ea typeface="Codec Pro Ultra-Bold"/>
              <a:cs typeface="Codec Pro Ultra-Bold"/>
              <a:sym typeface="Codec Pro Ultra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338812" y="3546366"/>
            <a:ext cx="13605532" cy="5925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0536" lvl="1" indent="-370268" algn="l">
              <a:lnSpc>
                <a:spcPts val="4801"/>
              </a:lnSpc>
              <a:buFont typeface="Arial"/>
              <a:buChar char="•"/>
            </a:pPr>
            <a:r>
              <a:rPr lang="en-US" sz="3429" b="1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Embedding Model</a:t>
            </a:r>
            <a:r>
              <a:rPr lang="en-US" sz="3429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: BAAI/bge-base-en-v1.5 (Sentence Transformers)</a:t>
            </a:r>
          </a:p>
          <a:p>
            <a:pPr algn="l">
              <a:lnSpc>
                <a:spcPts val="4801"/>
              </a:lnSpc>
            </a:pPr>
            <a:endParaRPr lang="en-US" sz="3429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40536" lvl="1" indent="-370268" algn="l">
              <a:lnSpc>
                <a:spcPts val="4801"/>
              </a:lnSpc>
              <a:buFont typeface="Arial"/>
              <a:buChar char="•"/>
            </a:pPr>
            <a:r>
              <a:rPr lang="en-US" sz="3429" b="1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</a:t>
            </a:r>
            <a:r>
              <a:rPr lang="en-US" sz="3429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: Convert text chunks into numerical vectors</a:t>
            </a:r>
          </a:p>
          <a:p>
            <a:pPr algn="l">
              <a:lnSpc>
                <a:spcPts val="4801"/>
              </a:lnSpc>
            </a:pPr>
            <a:endParaRPr lang="en-US" sz="3429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40536" lvl="1" indent="-370268" algn="l">
              <a:lnSpc>
                <a:spcPts val="4801"/>
              </a:lnSpc>
              <a:buFont typeface="Arial"/>
              <a:buChar char="•"/>
            </a:pPr>
            <a:r>
              <a:rPr lang="en-US" sz="3429" b="1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Vector Database</a:t>
            </a:r>
            <a:r>
              <a:rPr lang="en-US" sz="3429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: FAISS for efficient similarity search</a:t>
            </a:r>
          </a:p>
          <a:p>
            <a:pPr algn="l">
              <a:lnSpc>
                <a:spcPts val="4801"/>
              </a:lnSpc>
            </a:pPr>
            <a:endParaRPr lang="en-US" sz="3429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40536" lvl="1" indent="-370268" algn="l">
              <a:lnSpc>
                <a:spcPts val="4801"/>
              </a:lnSpc>
              <a:buFont typeface="Arial"/>
              <a:buChar char="•"/>
            </a:pPr>
            <a:r>
              <a:rPr lang="en-US" sz="3429" b="1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</a:t>
            </a:r>
            <a:r>
              <a:rPr lang="en-US" sz="3429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: Generate embeddings for all chunks, build FAISS index</a:t>
            </a:r>
          </a:p>
          <a:p>
            <a:pPr algn="l">
              <a:lnSpc>
                <a:spcPts val="3538"/>
              </a:lnSpc>
            </a:pPr>
            <a:endParaRPr lang="en-US" sz="3429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Freeform 4"/>
          <p:cNvSpPr/>
          <p:nvPr/>
        </p:nvSpPr>
        <p:spPr>
          <a:xfrm flipH="1" flipV="1">
            <a:off x="15097851" y="8418967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596235" y="7727202"/>
            <a:ext cx="1383530" cy="1383530"/>
            <a:chOff x="0" y="0"/>
            <a:chExt cx="364386" cy="3643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779735" y="-916993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91765" y="1176268"/>
            <a:ext cx="1383530" cy="1383530"/>
            <a:chOff x="0" y="0"/>
            <a:chExt cx="364386" cy="3643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1984942" y="8057181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 flipV="1">
            <a:off x="16303058" y="-555207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3304" y="297177"/>
            <a:ext cx="9251872" cy="3542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0"/>
              </a:lnSpc>
            </a:pPr>
            <a:endParaRPr/>
          </a:p>
          <a:p>
            <a:pPr algn="ctr">
              <a:lnSpc>
                <a:spcPts val="8090"/>
              </a:lnSpc>
            </a:pPr>
            <a:r>
              <a:rPr lang="en-US" sz="5779" b="1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RETRIEVAL &amp; LLM INTEGRATION</a:t>
            </a:r>
          </a:p>
          <a:p>
            <a:pPr algn="ctr">
              <a:lnSpc>
                <a:spcPts val="5644"/>
              </a:lnSpc>
            </a:pPr>
            <a:endParaRPr lang="en-US" sz="5779" b="1">
              <a:solidFill>
                <a:srgbClr val="182F5B"/>
              </a:solidFill>
              <a:latin typeface="Codec Pro Ultra-Bold"/>
              <a:ea typeface="Codec Pro Ultra-Bold"/>
              <a:cs typeface="Codec Pro Ultra-Bold"/>
              <a:sym typeface="Codec Pro Ultra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190149" y="4223103"/>
            <a:ext cx="13478138" cy="462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0060" lvl="1" indent="-370030" algn="l">
              <a:lnSpc>
                <a:spcPts val="4798"/>
              </a:lnSpc>
              <a:buFont typeface="Arial"/>
              <a:buChar char="•"/>
            </a:pPr>
            <a:r>
              <a:rPr lang="en-US" sz="34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427" b="1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Retrieval Function</a:t>
            </a:r>
            <a:r>
              <a:rPr lang="en-US" sz="34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: Query embedding, FAISS search (k-nearest neighbors)</a:t>
            </a:r>
          </a:p>
          <a:p>
            <a:pPr algn="l">
              <a:lnSpc>
                <a:spcPts val="4798"/>
              </a:lnSpc>
            </a:pPr>
            <a:endParaRPr lang="en-US" sz="34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40060" lvl="1" indent="-370030" algn="l">
              <a:lnSpc>
                <a:spcPts val="4798"/>
              </a:lnSpc>
              <a:buFont typeface="Arial"/>
              <a:buChar char="•"/>
            </a:pPr>
            <a:r>
              <a:rPr lang="en-US" sz="3427" b="1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LLM</a:t>
            </a:r>
            <a:r>
              <a:rPr lang="en-US" sz="34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: Gemini-Flash model (LangChain_Google_GenAI)</a:t>
            </a:r>
          </a:p>
          <a:p>
            <a:pPr algn="l">
              <a:lnSpc>
                <a:spcPts val="4798"/>
              </a:lnSpc>
            </a:pPr>
            <a:endParaRPr lang="en-US" sz="34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40060" lvl="1" indent="-370030" algn="l">
              <a:lnSpc>
                <a:spcPts val="4798"/>
              </a:lnSpc>
              <a:buFont typeface="Arial"/>
              <a:buChar char="•"/>
            </a:pPr>
            <a:r>
              <a:rPr lang="en-US" sz="3427" b="1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RAG Chain</a:t>
            </a:r>
            <a:r>
              <a:rPr lang="en-US" sz="34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: Integrate retrieval with LLM for context-aware generation</a:t>
            </a:r>
          </a:p>
          <a:p>
            <a:pPr algn="l">
              <a:lnSpc>
                <a:spcPts val="3538"/>
              </a:lnSpc>
            </a:pPr>
            <a:endParaRPr lang="en-US" sz="34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Freeform 4"/>
          <p:cNvSpPr/>
          <p:nvPr/>
        </p:nvSpPr>
        <p:spPr>
          <a:xfrm flipH="1" flipV="1">
            <a:off x="15097851" y="8418967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596235" y="7727202"/>
            <a:ext cx="1383530" cy="1383530"/>
            <a:chOff x="0" y="0"/>
            <a:chExt cx="364386" cy="3643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779735" y="-916993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91765" y="1176268"/>
            <a:ext cx="1383530" cy="1383530"/>
            <a:chOff x="0" y="0"/>
            <a:chExt cx="364386" cy="3643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259300" y="-354830"/>
            <a:ext cx="1383530" cy="1383530"/>
            <a:chOff x="0" y="0"/>
            <a:chExt cx="364386" cy="3643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4830" y="9258300"/>
            <a:ext cx="1383530" cy="1383530"/>
            <a:chOff x="0" y="0"/>
            <a:chExt cx="364386" cy="36438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51456" y="976243"/>
            <a:ext cx="10185088" cy="3690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3"/>
              </a:lnSpc>
            </a:pPr>
            <a:endParaRPr/>
          </a:p>
          <a:p>
            <a:pPr algn="ctr">
              <a:lnSpc>
                <a:spcPts val="7933"/>
              </a:lnSpc>
            </a:pPr>
            <a:r>
              <a:rPr lang="en-US" sz="5667" b="1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RAG CHAIN ARCHITECTURE</a:t>
            </a:r>
          </a:p>
          <a:p>
            <a:pPr algn="ctr">
              <a:lnSpc>
                <a:spcPts val="13253"/>
              </a:lnSpc>
            </a:pPr>
            <a:endParaRPr lang="en-US" sz="5667" b="1">
              <a:solidFill>
                <a:srgbClr val="182F5B"/>
              </a:solidFill>
              <a:latin typeface="Codec Pro Ultra-Bold"/>
              <a:ea typeface="Codec Pro Ultra-Bold"/>
              <a:cs typeface="Codec Pro Ultra-Bold"/>
              <a:sym typeface="Codec Pro Ultra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386358" y="3979446"/>
            <a:ext cx="14284512" cy="4397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4829" lvl="1" indent="-402414" algn="l">
              <a:lnSpc>
                <a:spcPts val="5218"/>
              </a:lnSpc>
              <a:buFont typeface="Arial"/>
              <a:buChar char="•"/>
            </a:pPr>
            <a:r>
              <a:rPr lang="en-US" sz="3727" b="1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Flow</a:t>
            </a:r>
            <a:r>
              <a:rPr lang="en-US" sz="37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: User Query -&gt; Embed Query -&gt; Retrieve Chunks (FAISS) -&gt; Format Context -&gt; LLM Prompt -&gt; Generated Answer</a:t>
            </a:r>
          </a:p>
          <a:p>
            <a:pPr algn="l">
              <a:lnSpc>
                <a:spcPts val="5218"/>
              </a:lnSpc>
            </a:pPr>
            <a:endParaRPr lang="en-US" sz="37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04829" lvl="1" indent="-402414" algn="l">
              <a:lnSpc>
                <a:spcPts val="5218"/>
              </a:lnSpc>
              <a:buFont typeface="Arial"/>
              <a:buChar char="•"/>
            </a:pPr>
            <a:r>
              <a:rPr lang="en-US" sz="3727" b="1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components</a:t>
            </a:r>
            <a:r>
              <a:rPr lang="en-US" sz="37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: `retrieve` function, `format_docs`, `ChatPromptTemplate`, `ChatGoogleGenerativeAI`</a:t>
            </a:r>
          </a:p>
          <a:p>
            <a:pPr algn="l">
              <a:lnSpc>
                <a:spcPts val="3538"/>
              </a:lnSpc>
            </a:pPr>
            <a:endParaRPr lang="en-US" sz="37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Freeform 4"/>
          <p:cNvSpPr/>
          <p:nvPr/>
        </p:nvSpPr>
        <p:spPr>
          <a:xfrm flipH="1" flipV="1">
            <a:off x="15097851" y="8418967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596235" y="7727202"/>
            <a:ext cx="1383530" cy="1383530"/>
            <a:chOff x="0" y="0"/>
            <a:chExt cx="364386" cy="3643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779735" y="-916993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91765" y="1176268"/>
            <a:ext cx="1383530" cy="1383530"/>
            <a:chOff x="0" y="0"/>
            <a:chExt cx="364386" cy="3643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1984942" y="8057181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 flipV="1">
            <a:off x="16303058" y="-555207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75453" y="-92633"/>
            <a:ext cx="12737093" cy="4740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73"/>
              </a:lnSpc>
            </a:pPr>
            <a:endParaRPr/>
          </a:p>
          <a:p>
            <a:pPr algn="ctr">
              <a:lnSpc>
                <a:spcPts val="8073"/>
              </a:lnSpc>
            </a:pPr>
            <a:r>
              <a:rPr lang="en-US" sz="5767" b="1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RESULTS - SYSTEM PERFORMANCE &amp; EXAMPLES</a:t>
            </a:r>
          </a:p>
          <a:p>
            <a:pPr algn="ctr">
              <a:lnSpc>
                <a:spcPts val="13253"/>
              </a:lnSpc>
            </a:pPr>
            <a:endParaRPr lang="en-US" sz="5767" b="1">
              <a:solidFill>
                <a:srgbClr val="182F5B"/>
              </a:solidFill>
              <a:latin typeface="Codec Pro Ultra-Bold"/>
              <a:ea typeface="Codec Pro Ultra-Bold"/>
              <a:cs typeface="Codec Pro Ultra-Bold"/>
              <a:sym typeface="Codec Pro Ultra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789314" y="3921719"/>
            <a:ext cx="13677902" cy="5711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4829" lvl="1" indent="-402414" algn="l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 Demonstration of queries (e.g., Apple's carbon neutrality, Unilever's plastic waste, Coca-Cola's water usage)</a:t>
            </a:r>
          </a:p>
          <a:p>
            <a:pPr algn="l">
              <a:lnSpc>
                <a:spcPts val="5218"/>
              </a:lnSpc>
            </a:pPr>
            <a:endParaRPr lang="en-US" sz="37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04829" lvl="1" indent="-402414" algn="l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Qualitative assessment of answer quality</a:t>
            </a:r>
          </a:p>
          <a:p>
            <a:pPr algn="l">
              <a:lnSpc>
                <a:spcPts val="5218"/>
              </a:lnSpc>
            </a:pPr>
            <a:endParaRPr lang="en-US" sz="37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04829" lvl="1" indent="-402414" algn="l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Highlighting the relevance and faithfulness of generated answers</a:t>
            </a:r>
          </a:p>
          <a:p>
            <a:pPr algn="l">
              <a:lnSpc>
                <a:spcPts val="3538"/>
              </a:lnSpc>
            </a:pPr>
            <a:endParaRPr lang="en-US" sz="37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Freeform 4"/>
          <p:cNvSpPr/>
          <p:nvPr/>
        </p:nvSpPr>
        <p:spPr>
          <a:xfrm flipH="1" flipV="1">
            <a:off x="15097851" y="8418967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596235" y="7727202"/>
            <a:ext cx="1383530" cy="1383530"/>
            <a:chOff x="0" y="0"/>
            <a:chExt cx="364386" cy="3643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779735" y="-916993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91765" y="1176268"/>
            <a:ext cx="1383530" cy="1383530"/>
            <a:chOff x="0" y="0"/>
            <a:chExt cx="364386" cy="3643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259300" y="-354830"/>
            <a:ext cx="1383530" cy="1383530"/>
            <a:chOff x="0" y="0"/>
            <a:chExt cx="364386" cy="3643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4830" y="9258300"/>
            <a:ext cx="1383530" cy="1383530"/>
            <a:chOff x="0" y="0"/>
            <a:chExt cx="364386" cy="36438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87244" y="684906"/>
            <a:ext cx="10263285" cy="3072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6"/>
              </a:lnSpc>
            </a:pPr>
            <a:endParaRPr/>
          </a:p>
          <a:p>
            <a:pPr algn="ctr">
              <a:lnSpc>
                <a:spcPts val="8078"/>
              </a:lnSpc>
            </a:pPr>
            <a:r>
              <a:rPr lang="en-US" sz="5770" b="1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EVALUATION (LLM‑AS‑JUDGE)</a:t>
            </a:r>
          </a:p>
          <a:p>
            <a:pPr algn="ctr">
              <a:lnSpc>
                <a:spcPts val="10056"/>
              </a:lnSpc>
            </a:pPr>
            <a:endParaRPr lang="en-US" sz="5770" b="1">
              <a:solidFill>
                <a:srgbClr val="182F5B"/>
              </a:solidFill>
              <a:latin typeface="Codec Pro Ultra-Bold"/>
              <a:ea typeface="Codec Pro Ultra-Bold"/>
              <a:cs typeface="Codec Pro Ultra-Bold"/>
              <a:sym typeface="Codec Pro Ultra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679927" y="3398978"/>
            <a:ext cx="13368343" cy="5711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4829" lvl="1" indent="-402414" algn="l">
              <a:lnSpc>
                <a:spcPts val="5218"/>
              </a:lnSpc>
              <a:buFont typeface="Arial"/>
              <a:buChar char="•"/>
            </a:pPr>
            <a:r>
              <a:rPr lang="en-US" sz="3727" b="1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</a:t>
            </a:r>
            <a:r>
              <a:rPr lang="en-US" sz="37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: Use a separate LLM to evaluate RAG system responses</a:t>
            </a:r>
          </a:p>
          <a:p>
            <a:pPr algn="l">
              <a:lnSpc>
                <a:spcPts val="5218"/>
              </a:lnSpc>
            </a:pPr>
            <a:endParaRPr lang="en-US" sz="37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04829" lvl="1" indent="-402414" algn="l">
              <a:lnSpc>
                <a:spcPts val="5218"/>
              </a:lnSpc>
              <a:buFont typeface="Arial"/>
              <a:buChar char="•"/>
            </a:pPr>
            <a:r>
              <a:rPr lang="en-US" sz="3727" b="1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Criteria</a:t>
            </a:r>
            <a:r>
              <a:rPr lang="en-US" sz="37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: Relevance, Faithfulness, Conciseness (scale 1-5)</a:t>
            </a:r>
          </a:p>
          <a:p>
            <a:pPr algn="l">
              <a:lnSpc>
                <a:spcPts val="5218"/>
              </a:lnSpc>
            </a:pPr>
            <a:endParaRPr lang="en-US" sz="37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04829" lvl="1" indent="-402414" algn="l">
              <a:lnSpc>
                <a:spcPts val="5218"/>
              </a:lnSpc>
              <a:buFont typeface="Arial"/>
              <a:buChar char="•"/>
            </a:pPr>
            <a:r>
              <a:rPr lang="en-US" sz="3727" b="1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Insights</a:t>
            </a:r>
            <a:r>
              <a:rPr lang="en-US" sz="37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: How the judge helped in assessing RAG quality, identifying areas for improvement</a:t>
            </a:r>
          </a:p>
          <a:p>
            <a:pPr algn="ctr">
              <a:lnSpc>
                <a:spcPts val="3538"/>
              </a:lnSpc>
            </a:pPr>
            <a:endParaRPr lang="en-US" sz="37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Freeform 4"/>
          <p:cNvSpPr/>
          <p:nvPr/>
        </p:nvSpPr>
        <p:spPr>
          <a:xfrm flipH="1" flipV="1">
            <a:off x="15097851" y="8418967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596235" y="7727202"/>
            <a:ext cx="1383530" cy="1383530"/>
            <a:chOff x="0" y="0"/>
            <a:chExt cx="364386" cy="3643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779735" y="-916993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91765" y="1176268"/>
            <a:ext cx="1383530" cy="1383530"/>
            <a:chOff x="0" y="0"/>
            <a:chExt cx="364386" cy="3643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1984942" y="8057181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 flipV="1">
            <a:off x="16303058" y="-555207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79735" y="-916993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0" y="0"/>
                </a:moveTo>
                <a:lnTo>
                  <a:pt x="3969884" y="0"/>
                </a:lnTo>
                <a:lnTo>
                  <a:pt x="3969884" y="2785026"/>
                </a:lnTo>
                <a:lnTo>
                  <a:pt x="0" y="278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097851" y="8418967"/>
            <a:ext cx="3969884" cy="2785026"/>
          </a:xfrm>
          <a:custGeom>
            <a:avLst/>
            <a:gdLst/>
            <a:ahLst/>
            <a:cxnLst/>
            <a:rect l="l" t="t" r="r" b="b"/>
            <a:pathLst>
              <a:path w="3969884" h="2785026">
                <a:moveTo>
                  <a:pt x="3969884" y="2785026"/>
                </a:moveTo>
                <a:lnTo>
                  <a:pt x="0" y="2785026"/>
                </a:lnTo>
                <a:lnTo>
                  <a:pt x="0" y="0"/>
                </a:lnTo>
                <a:lnTo>
                  <a:pt x="3969884" y="0"/>
                </a:lnTo>
                <a:lnTo>
                  <a:pt x="3969884" y="27850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691765" y="1176268"/>
            <a:ext cx="1383530" cy="1383530"/>
            <a:chOff x="0" y="0"/>
            <a:chExt cx="364386" cy="36438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96235" y="7727202"/>
            <a:ext cx="1383530" cy="1383530"/>
            <a:chOff x="0" y="0"/>
            <a:chExt cx="364386" cy="3643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4386" cy="364386"/>
            </a:xfrm>
            <a:custGeom>
              <a:avLst/>
              <a:gdLst/>
              <a:ahLst/>
              <a:cxnLst/>
              <a:rect l="l" t="t" r="r" b="b"/>
              <a:pathLst>
                <a:path w="364386" h="364386">
                  <a:moveTo>
                    <a:pt x="0" y="0"/>
                  </a:moveTo>
                  <a:lnTo>
                    <a:pt x="364386" y="0"/>
                  </a:lnTo>
                  <a:lnTo>
                    <a:pt x="364386" y="364386"/>
                  </a:lnTo>
                  <a:lnTo>
                    <a:pt x="0" y="364386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64386" cy="402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2243781" y="7703002"/>
            <a:ext cx="3272481" cy="3272481"/>
            <a:chOff x="0" y="0"/>
            <a:chExt cx="861888" cy="8618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61888" cy="861888"/>
            </a:xfrm>
            <a:custGeom>
              <a:avLst/>
              <a:gdLst/>
              <a:ahLst/>
              <a:cxnLst/>
              <a:rect l="l" t="t" r="r" b="b"/>
              <a:pathLst>
                <a:path w="861888" h="861888">
                  <a:moveTo>
                    <a:pt x="0" y="0"/>
                  </a:moveTo>
                  <a:lnTo>
                    <a:pt x="861888" y="0"/>
                  </a:lnTo>
                  <a:lnTo>
                    <a:pt x="861888" y="861888"/>
                  </a:lnTo>
                  <a:lnTo>
                    <a:pt x="0" y="861888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61888" cy="8999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259300" y="-688483"/>
            <a:ext cx="3272481" cy="3272481"/>
            <a:chOff x="0" y="0"/>
            <a:chExt cx="861888" cy="86188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61888" cy="861888"/>
            </a:xfrm>
            <a:custGeom>
              <a:avLst/>
              <a:gdLst/>
              <a:ahLst/>
              <a:cxnLst/>
              <a:rect l="l" t="t" r="r" b="b"/>
              <a:pathLst>
                <a:path w="861888" h="861888">
                  <a:moveTo>
                    <a:pt x="0" y="0"/>
                  </a:moveTo>
                  <a:lnTo>
                    <a:pt x="861888" y="0"/>
                  </a:lnTo>
                  <a:lnTo>
                    <a:pt x="861888" y="861888"/>
                  </a:lnTo>
                  <a:lnTo>
                    <a:pt x="0" y="861888"/>
                  </a:lnTo>
                  <a:close/>
                </a:path>
              </a:pathLst>
            </a:custGeom>
            <a:solidFill>
              <a:srgbClr val="446EB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61888" cy="8999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487244" y="1231778"/>
            <a:ext cx="10263285" cy="107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86"/>
              </a:lnSpc>
            </a:pPr>
            <a:r>
              <a:rPr lang="en-US" sz="5776" b="1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DEPLOYMENT - STREAMLIT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79927" y="3398978"/>
            <a:ext cx="13368343" cy="5711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4829" lvl="1" indent="-402414" algn="l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Built a simple Streamlit interface to allow users to query the system interactively.</a:t>
            </a:r>
          </a:p>
          <a:p>
            <a:pPr algn="l">
              <a:lnSpc>
                <a:spcPts val="5218"/>
              </a:lnSpc>
            </a:pPr>
            <a:endParaRPr lang="en-US" sz="37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04829" lvl="1" indent="-402414" algn="l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The interface displays below:</a:t>
            </a:r>
          </a:p>
          <a:p>
            <a:pPr marL="1609658" lvl="2" indent="-536553" algn="l">
              <a:lnSpc>
                <a:spcPts val="5218"/>
              </a:lnSpc>
              <a:buFont typeface="Arial"/>
              <a:buChar char="⚬"/>
            </a:pPr>
            <a:r>
              <a:rPr lang="en-US" sz="37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The user’s question</a:t>
            </a:r>
          </a:p>
          <a:p>
            <a:pPr marL="1609658" lvl="2" indent="-536553" algn="l">
              <a:lnSpc>
                <a:spcPts val="5218"/>
              </a:lnSpc>
              <a:buFont typeface="Arial"/>
              <a:buChar char="⚬"/>
            </a:pPr>
            <a:r>
              <a:rPr lang="en-US" sz="37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The generated answer</a:t>
            </a:r>
          </a:p>
          <a:p>
            <a:pPr marL="1609658" lvl="2" indent="-536553" algn="l">
              <a:lnSpc>
                <a:spcPts val="5218"/>
              </a:lnSpc>
              <a:buFont typeface="Arial"/>
              <a:buChar char="⚬"/>
            </a:pPr>
            <a:r>
              <a:rPr lang="en-US" sz="37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The supporting document excerpts</a:t>
            </a:r>
          </a:p>
          <a:p>
            <a:pPr algn="l">
              <a:lnSpc>
                <a:spcPts val="5218"/>
              </a:lnSpc>
            </a:pPr>
            <a:endParaRPr lang="en-US" sz="37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538"/>
              </a:lnSpc>
            </a:pPr>
            <a:endParaRPr lang="en-US" sz="37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12358" y="55383"/>
            <a:ext cx="10263285" cy="311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86"/>
              </a:lnSpc>
            </a:pPr>
            <a:endParaRPr/>
          </a:p>
          <a:p>
            <a:pPr algn="ctr">
              <a:lnSpc>
                <a:spcPts val="8086"/>
              </a:lnSpc>
            </a:pPr>
            <a:r>
              <a:rPr lang="en-US" sz="5776" b="1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CONCLUSION</a:t>
            </a:r>
          </a:p>
          <a:p>
            <a:pPr algn="ctr">
              <a:lnSpc>
                <a:spcPts val="8086"/>
              </a:lnSpc>
            </a:pPr>
            <a:endParaRPr lang="en-US" sz="5776" b="1">
              <a:solidFill>
                <a:srgbClr val="182F5B"/>
              </a:solidFill>
              <a:latin typeface="Codec Pro Ultra-Bold"/>
              <a:ea typeface="Codec Pro Ultra-Bold"/>
              <a:cs typeface="Codec Pro Ultra-Bold"/>
              <a:sym typeface="Codec Pro Ultra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679927" y="2603571"/>
            <a:ext cx="13368343" cy="7683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4829" lvl="1" indent="-402414" algn="l">
              <a:lnSpc>
                <a:spcPts val="5218"/>
              </a:lnSpc>
              <a:buFont typeface="Arial"/>
              <a:buChar char="•"/>
            </a:pPr>
            <a:r>
              <a:rPr lang="en-US" sz="3727" b="1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Summary</a:t>
            </a:r>
            <a:r>
              <a:rPr lang="en-US" sz="37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: Successfully built a RAG system for environmental reports</a:t>
            </a:r>
          </a:p>
          <a:p>
            <a:pPr algn="l">
              <a:lnSpc>
                <a:spcPts val="5218"/>
              </a:lnSpc>
            </a:pPr>
            <a:endParaRPr lang="en-US" sz="37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04829" lvl="1" indent="-402414" algn="l">
              <a:lnSpc>
                <a:spcPts val="5218"/>
              </a:lnSpc>
              <a:buFont typeface="Arial"/>
              <a:buChar char="•"/>
            </a:pPr>
            <a:r>
              <a:rPr lang="en-US" sz="3727" b="1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Takeaways</a:t>
            </a:r>
            <a:r>
              <a:rPr lang="en-US" sz="37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: RAG enhances LLM capabilities for specific domains</a:t>
            </a:r>
          </a:p>
          <a:p>
            <a:pPr algn="l">
              <a:lnSpc>
                <a:spcPts val="5218"/>
              </a:lnSpc>
            </a:pPr>
            <a:endParaRPr lang="en-US" sz="37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04829" lvl="1" indent="-402414" algn="l">
              <a:lnSpc>
                <a:spcPts val="5218"/>
              </a:lnSpc>
              <a:buFont typeface="Arial"/>
              <a:buChar char="•"/>
            </a:pPr>
            <a:r>
              <a:rPr lang="en-US" sz="3727" b="1">
                <a:solidFill>
                  <a:srgbClr val="182F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Enhancements</a:t>
            </a:r>
            <a:r>
              <a:rPr lang="en-US" sz="3727">
                <a:solidFill>
                  <a:srgbClr val="182F5B"/>
                </a:solidFill>
                <a:latin typeface="Canva Sans"/>
                <a:ea typeface="Canva Sans"/>
                <a:cs typeface="Canva Sans"/>
                <a:sym typeface="Canva Sans"/>
              </a:rPr>
              <a:t>: Advanced chunking strategies, different embedding models, more sophisticated evaluation metrics, Streamlit deployment for user interface.</a:t>
            </a:r>
          </a:p>
          <a:p>
            <a:pPr algn="l">
              <a:lnSpc>
                <a:spcPts val="5218"/>
              </a:lnSpc>
            </a:pPr>
            <a:endParaRPr lang="en-US" sz="37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538"/>
              </a:lnSpc>
            </a:pPr>
            <a:endParaRPr lang="en-US" sz="3727">
              <a:solidFill>
                <a:srgbClr val="182F5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Office PowerPoint</Application>
  <PresentationFormat>Custom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Canva Sans</vt:lpstr>
      <vt:lpstr>Canva Sans Bold</vt:lpstr>
      <vt:lpstr>Arial</vt:lpstr>
      <vt:lpstr>Codec Pro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Minimalist Geometric Project Presentation</dc:title>
  <cp:lastModifiedBy>HP</cp:lastModifiedBy>
  <cp:revision>2</cp:revision>
  <dcterms:created xsi:type="dcterms:W3CDTF">2006-08-16T00:00:00Z</dcterms:created>
  <dcterms:modified xsi:type="dcterms:W3CDTF">2026-08-31T15:05:51Z</dcterms:modified>
  <dc:identifier>DAHT2OuVNVk</dc:identifier>
</cp:coreProperties>
</file>