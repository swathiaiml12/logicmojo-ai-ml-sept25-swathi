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laypen Sans Bold" charset="1" panose="00000000000000000000"/>
      <p:regular r:id="rId13"/>
    </p:embeddedFont>
    <p:embeddedFont>
      <p:font typeface="Playpen Sans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7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93884" y="1199123"/>
            <a:ext cx="4729928" cy="5656118"/>
          </a:xfrm>
          <a:custGeom>
            <a:avLst/>
            <a:gdLst/>
            <a:ahLst/>
            <a:cxnLst/>
            <a:rect r="r" b="b" t="t" l="l"/>
            <a:pathLst>
              <a:path h="5656118" w="4729928">
                <a:moveTo>
                  <a:pt x="0" y="0"/>
                </a:moveTo>
                <a:lnTo>
                  <a:pt x="4729928" y="0"/>
                </a:lnTo>
                <a:lnTo>
                  <a:pt x="4729928" y="5656117"/>
                </a:lnTo>
                <a:lnTo>
                  <a:pt x="0" y="5656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597579" y="-863686"/>
            <a:ext cx="12014372" cy="1201437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B143"/>
            </a:solidFill>
            <a:ln w="123825" cap="sq">
              <a:solidFill>
                <a:srgbClr val="EBDFC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09813" y="3609109"/>
            <a:ext cx="3068782" cy="3068782"/>
            <a:chOff x="0" y="0"/>
            <a:chExt cx="14840029" cy="14840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38492" t="0" r="-38492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144204" y="669377"/>
            <a:ext cx="3068782" cy="3068782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665" t="0" r="-24665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2144204" y="6548841"/>
            <a:ext cx="3068782" cy="3068782"/>
            <a:chOff x="0" y="0"/>
            <a:chExt cx="14840029" cy="148400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801" t="0" r="-24801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11196">
            <a:off x="-824315" y="6803253"/>
            <a:ext cx="3706031" cy="4199469"/>
          </a:xfrm>
          <a:custGeom>
            <a:avLst/>
            <a:gdLst/>
            <a:ahLst/>
            <a:cxnLst/>
            <a:rect r="r" b="b" t="t" l="l"/>
            <a:pathLst>
              <a:path h="4199469" w="3706031">
                <a:moveTo>
                  <a:pt x="3706030" y="0"/>
                </a:moveTo>
                <a:lnTo>
                  <a:pt x="0" y="0"/>
                </a:lnTo>
                <a:lnTo>
                  <a:pt x="0" y="4199469"/>
                </a:lnTo>
                <a:lnTo>
                  <a:pt x="3706030" y="4199469"/>
                </a:lnTo>
                <a:lnTo>
                  <a:pt x="370603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9809651">
            <a:off x="15072231" y="-1071034"/>
            <a:ext cx="3706031" cy="4199469"/>
          </a:xfrm>
          <a:custGeom>
            <a:avLst/>
            <a:gdLst/>
            <a:ahLst/>
            <a:cxnLst/>
            <a:rect r="r" b="b" t="t" l="l"/>
            <a:pathLst>
              <a:path h="4199469" w="3706031">
                <a:moveTo>
                  <a:pt x="3706031" y="0"/>
                </a:moveTo>
                <a:lnTo>
                  <a:pt x="0" y="0"/>
                </a:lnTo>
                <a:lnTo>
                  <a:pt x="0" y="4199468"/>
                </a:lnTo>
                <a:lnTo>
                  <a:pt x="3706031" y="4199468"/>
                </a:lnTo>
                <a:lnTo>
                  <a:pt x="370603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1561968" y="0"/>
            <a:ext cx="4343561" cy="5194094"/>
          </a:xfrm>
          <a:custGeom>
            <a:avLst/>
            <a:gdLst/>
            <a:ahLst/>
            <a:cxnLst/>
            <a:rect r="r" b="b" t="t" l="l"/>
            <a:pathLst>
              <a:path h="5194094" w="4343561">
                <a:moveTo>
                  <a:pt x="0" y="0"/>
                </a:moveTo>
                <a:lnTo>
                  <a:pt x="4343561" y="0"/>
                </a:lnTo>
                <a:lnTo>
                  <a:pt x="4343561" y="5194094"/>
                </a:lnTo>
                <a:lnTo>
                  <a:pt x="0" y="519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270092">
            <a:off x="15764390" y="6382246"/>
            <a:ext cx="4343561" cy="5194094"/>
          </a:xfrm>
          <a:custGeom>
            <a:avLst/>
            <a:gdLst/>
            <a:ahLst/>
            <a:cxnLst/>
            <a:rect r="r" b="b" t="t" l="l"/>
            <a:pathLst>
              <a:path h="5194094" w="4343561">
                <a:moveTo>
                  <a:pt x="0" y="0"/>
                </a:moveTo>
                <a:lnTo>
                  <a:pt x="4343561" y="0"/>
                </a:lnTo>
                <a:lnTo>
                  <a:pt x="4343561" y="5194095"/>
                </a:lnTo>
                <a:lnTo>
                  <a:pt x="0" y="519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786283" y="2645018"/>
            <a:ext cx="8663940" cy="339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2"/>
              </a:lnSpc>
            </a:pPr>
            <a:r>
              <a:rPr lang="en-US" b="true" sz="7826" spc="250">
                <a:solidFill>
                  <a:srgbClr val="EBDFC7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FOREST COVER DATA TYPE PREDICTION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86283" y="7198752"/>
            <a:ext cx="866394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Capstone Proect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by Swathi.S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687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1293" y="952500"/>
            <a:ext cx="603736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Project Title &amp;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4350" y="3160077"/>
            <a:ext cx="17259300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Problem Statement: The objective of this project is to predict the type of forest cover based on cartographic variables such as elevation, aspect, slope, soil type, and wilderness area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Dataset Overview: 581,012 samples, 12 original features (cartographic and soil types, wilderness areas).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Core Goals: Build an efficient classification model that accurately identifies the forest cover type from the provided geographical and environmental features.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7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0604" y="1929763"/>
            <a:ext cx="6754275" cy="4958709"/>
          </a:xfrm>
          <a:custGeom>
            <a:avLst/>
            <a:gdLst/>
            <a:ahLst/>
            <a:cxnLst/>
            <a:rect r="r" b="b" t="t" l="l"/>
            <a:pathLst>
              <a:path h="4958709" w="6754275">
                <a:moveTo>
                  <a:pt x="0" y="0"/>
                </a:moveTo>
                <a:lnTo>
                  <a:pt x="6754275" y="0"/>
                </a:lnTo>
                <a:lnTo>
                  <a:pt x="6754275" y="4958708"/>
                </a:lnTo>
                <a:lnTo>
                  <a:pt x="0" y="495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63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6479" y="952500"/>
            <a:ext cx="11795622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Exploratory Data Analysis (EDA) &amp; Data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6798" y="2059086"/>
            <a:ext cx="10763806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Severe Class Imbalance: Cover Types 1 (Spruce/Fir) and 2 (Lodgepole Pine) make up ~85% of the data, while Type 4 (Cottonwood/Willow) makes up only 0.5%.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Key Feature Distributions: Elevation emerges as the single most predictive feature, showing clear separation between different cover types.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Multicollinearity: Note high correlations between Hillshade variables and between Hydrology distances.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7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66" y="2494698"/>
            <a:ext cx="11900603" cy="441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231" indent="-340615" lvl="1">
              <a:lnSpc>
                <a:spcPts val="4417"/>
              </a:lnSpc>
              <a:spcBef>
                <a:spcPct val="0"/>
              </a:spcBef>
              <a:buFont typeface="Arial"/>
              <a:buChar char="•"/>
            </a:pPr>
            <a:r>
              <a:rPr lang="en-US" sz="3155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Preprocessing Pipeline: Standard scaling of numerical columns, zero-indexing targets for gradient boosters.</a:t>
            </a:r>
          </a:p>
          <a:p>
            <a:pPr algn="l" marL="681231" indent="-340615" lvl="1">
              <a:lnSpc>
                <a:spcPts val="4417"/>
              </a:lnSpc>
              <a:spcBef>
                <a:spcPct val="0"/>
              </a:spcBef>
              <a:buFont typeface="Arial"/>
              <a:buChar char="•"/>
            </a:pPr>
            <a:r>
              <a:rPr lang="en-US" sz="3155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Baseline Algorithms: Evaluated Logistic Regression, Decision Tree, Random Forest (Balanced), XGBoost, LightGBM, and an Artificial Neural Network (PyTorch).</a:t>
            </a:r>
          </a:p>
          <a:p>
            <a:pPr algn="l" marL="681231" indent="-340615" lvl="1">
              <a:lnSpc>
                <a:spcPts val="4417"/>
              </a:lnSpc>
              <a:spcBef>
                <a:spcPct val="0"/>
              </a:spcBef>
              <a:buFont typeface="Arial"/>
              <a:buChar char="•"/>
            </a:pPr>
            <a:r>
              <a:rPr lang="en-US" sz="3155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Performance Highlights: Random Forest (Balanced)outperformed all other baselines with F1-scores of ~0.90.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12374720" y="2377432"/>
          <a:ext cx="11315700" cy="4400550"/>
        </p:xfrm>
        <a:graphic>
          <a:graphicData uri="http://schemas.openxmlformats.org/presentationml/2006/ole">
            <p:oleObj imgW="13576300" imgH="6667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885773" y="952500"/>
            <a:ext cx="1158408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Preprocessing &amp; Baseline Model Benchmarking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7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71472" y="2871211"/>
            <a:ext cx="6172805" cy="4446550"/>
          </a:xfrm>
          <a:custGeom>
            <a:avLst/>
            <a:gdLst/>
            <a:ahLst/>
            <a:cxnLst/>
            <a:rect r="r" b="b" t="t" l="l"/>
            <a:pathLst>
              <a:path h="4446550" w="6172805">
                <a:moveTo>
                  <a:pt x="0" y="0"/>
                </a:moveTo>
                <a:lnTo>
                  <a:pt x="6172804" y="0"/>
                </a:lnTo>
                <a:lnTo>
                  <a:pt x="6172804" y="4446550"/>
                </a:lnTo>
                <a:lnTo>
                  <a:pt x="0" y="4446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8" t="0" r="-297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4150" y="1253757"/>
            <a:ext cx="1203970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Hyperparameter Tuning &amp; Final Model Selection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0069" y="2846091"/>
            <a:ext cx="10794885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Tuning Strategy: Randomized Search CV conducted on 25% subset of data to optimize the Balanced Random Forest Classifier.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Best Parameters: n_estimators: 500, max_depth: 40, min_samples_split: 2, min_samples_leaf: 1.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Final Test Performance: Achieved 92.02% Test Accuracy and 0.92 Weighted F1-Score when scaled back to the full dataset.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7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7138" y="2367466"/>
            <a:ext cx="8303872" cy="6049331"/>
          </a:xfrm>
          <a:custGeom>
            <a:avLst/>
            <a:gdLst/>
            <a:ahLst/>
            <a:cxnLst/>
            <a:rect r="r" b="b" t="t" l="l"/>
            <a:pathLst>
              <a:path h="6049331" w="8303872">
                <a:moveTo>
                  <a:pt x="0" y="0"/>
                </a:moveTo>
                <a:lnTo>
                  <a:pt x="8303872" y="0"/>
                </a:lnTo>
                <a:lnTo>
                  <a:pt x="8303872" y="6049331"/>
                </a:lnTo>
                <a:lnTo>
                  <a:pt x="0" y="6049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62" r="-26316" b="-126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8869" y="952500"/>
            <a:ext cx="1019026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Feature Importance &amp; Ecological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17750"/>
            <a:ext cx="8935990" cy="67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Top Predictors: Elevation (24.0% importance), followed by Horizontal Distance to Roadways (11.8%) and Fire Points (11.1%).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Ecological Significance: Tree species survival is heavily stratified by altitude (elevation) and proximity to water and roadways (disturbances/microclimates).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Business/Operational Value: Enables automated, highly accurate GIS-based forest mapping, reducing the need for costly physical surveys.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687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26262" y="3826293"/>
            <a:ext cx="4435475" cy="114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EBDFC7"/>
                </a:solidFill>
                <a:latin typeface="Playpen Sans"/>
                <a:ea typeface="Playpen Sans"/>
                <a:cs typeface="Playpen Sans"/>
                <a:sym typeface="Playpen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DAHXHz-aoQo</dc:identifier>
  <dcterms:modified xsi:type="dcterms:W3CDTF">2011-08-01T06:04:30Z</dcterms:modified>
  <cp:revision>1</cp:revision>
  <dc:title>Forest Cover Type Prediction</dc:title>
</cp:coreProperties>
</file>